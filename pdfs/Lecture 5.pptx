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63" r:id="rId4"/>
    <p:sldId id="264" r:id="rId5"/>
    <p:sldId id="257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34" autoAdjust="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>
            <a:extLst>
              <a:ext uri="{FF2B5EF4-FFF2-40B4-BE49-F238E27FC236}">
                <a16:creationId xmlns:a16="http://schemas.microsoft.com/office/drawing/2014/main" id="{1C42DD92-4D7D-41F0-8FC4-7FC1ABB75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362200"/>
            <a:ext cx="8064500" cy="139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en-GB" altLang="en-US" sz="4000" b="1" dirty="0">
                <a:solidFill>
                  <a:srgbClr val="7030A0"/>
                </a:solidFill>
              </a:rPr>
              <a:t>0714 02 CSE 4103 </a:t>
            </a:r>
          </a:p>
          <a:p>
            <a:pPr algn="ctr">
              <a:spcBef>
                <a:spcPct val="0"/>
              </a:spcBef>
              <a:buNone/>
            </a:pPr>
            <a:r>
              <a:rPr lang="en-GB" altLang="en-US" sz="4000" b="1" dirty="0">
                <a:solidFill>
                  <a:srgbClr val="7030A0"/>
                </a:solidFill>
              </a:rPr>
              <a:t>Compiler Design</a:t>
            </a:r>
          </a:p>
        </p:txBody>
      </p:sp>
    </p:spTree>
    <p:extLst>
      <p:ext uri="{BB962C8B-B14F-4D97-AF65-F5344CB8AC3E}">
        <p14:creationId xmlns:p14="http://schemas.microsoft.com/office/powerpoint/2010/main" val="4531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2590800"/>
            <a:ext cx="6858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Transition Diagram</a:t>
            </a:r>
          </a:p>
        </p:txBody>
      </p:sp>
    </p:spTree>
    <p:extLst>
      <p:ext uri="{BB962C8B-B14F-4D97-AF65-F5344CB8AC3E}">
        <p14:creationId xmlns:p14="http://schemas.microsoft.com/office/powerpoint/2010/main" val="3696429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7492CB-7D83-00D7-7569-553728159061}"/>
              </a:ext>
            </a:extLst>
          </p:cNvPr>
          <p:cNvSpPr txBox="1"/>
          <p:nvPr/>
        </p:nvSpPr>
        <p:spPr>
          <a:xfrm>
            <a:off x="990600" y="762000"/>
            <a:ext cx="7391400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compiler design, a transition diagram is a graphical representation of a finite automaton (FA) used mainly in the lexical analysis phase. It shows how the lexical analyzer moves between different states while reading characters from the source program to recognize tokens.</a:t>
            </a:r>
          </a:p>
          <a:p>
            <a:r>
              <a:rPr lang="en-US" sz="2400" dirty="0"/>
              <a:t>A transition diagram helps to:</a:t>
            </a:r>
          </a:p>
          <a:p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Recognize </a:t>
            </a:r>
            <a:r>
              <a:rPr lang="en-US" sz="2400" b="1" dirty="0"/>
              <a:t>lexemes</a:t>
            </a:r>
            <a:r>
              <a:rPr lang="en-US" sz="2400" dirty="0"/>
              <a:t> (identifiers, keywords, numbers, operators, etc.)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Define </a:t>
            </a:r>
            <a:r>
              <a:rPr lang="en-US" sz="2400" b="1" dirty="0"/>
              <a:t>token patterns</a:t>
            </a:r>
            <a:r>
              <a:rPr lang="en-US" sz="2400" dirty="0"/>
              <a:t> using states and transitions</a:t>
            </a:r>
          </a:p>
          <a:p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Implement </a:t>
            </a:r>
            <a:r>
              <a:rPr lang="en-US" sz="2400" b="1" dirty="0"/>
              <a:t>lexical analyzers</a:t>
            </a:r>
            <a:r>
              <a:rPr lang="en-US" sz="2400" dirty="0"/>
              <a:t> (scanners)</a:t>
            </a:r>
          </a:p>
          <a:p>
            <a:endParaRPr lang="en-US" sz="2400" dirty="0"/>
          </a:p>
          <a:p>
            <a:r>
              <a:rPr lang="en-US" sz="2400" dirty="0"/>
              <a:t>It is commonly derived from </a:t>
            </a:r>
            <a:r>
              <a:rPr lang="en-US" sz="2400" b="1" dirty="0"/>
              <a:t>regular expressions</a:t>
            </a:r>
            <a:r>
              <a:rPr lang="en-US" sz="2400" dirty="0"/>
              <a:t>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905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5D73F5-94CC-5C3A-7917-7F1E4DD061B0}"/>
              </a:ext>
            </a:extLst>
          </p:cNvPr>
          <p:cNvSpPr txBox="1"/>
          <p:nvPr/>
        </p:nvSpPr>
        <p:spPr>
          <a:xfrm>
            <a:off x="1447800" y="609600"/>
            <a:ext cx="670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Basic Components of Transition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CE649B-BC8F-CDE4-1EBE-811D94E11ABF}"/>
              </a:ext>
            </a:extLst>
          </p:cNvPr>
          <p:cNvSpPr txBox="1"/>
          <p:nvPr/>
        </p:nvSpPr>
        <p:spPr>
          <a:xfrm>
            <a:off x="1066800" y="1524000"/>
            <a:ext cx="7239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400"/>
              <a:t>A transition diagram consists of:</a:t>
            </a:r>
          </a:p>
          <a:p>
            <a:pPr>
              <a:buFont typeface="+mj-lt"/>
              <a:buAutoNum type="arabicPeriod"/>
            </a:pPr>
            <a:r>
              <a:rPr lang="en-US" sz="2400" b="1"/>
              <a:t>States</a:t>
            </a:r>
            <a:endParaRPr lang="en-US" sz="2400"/>
          </a:p>
          <a:p>
            <a:pPr marL="742950" lvl="1" indent="-285750">
              <a:buFont typeface="+mj-lt"/>
              <a:buAutoNum type="arabicPeriod"/>
            </a:pPr>
            <a:r>
              <a:rPr lang="en-US" sz="2400"/>
              <a:t>Represented by circles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400"/>
              <a:t>One </a:t>
            </a:r>
            <a:r>
              <a:rPr lang="en-US" sz="2400" b="1"/>
              <a:t>start state</a:t>
            </a:r>
            <a:endParaRPr lang="en-US" sz="2400"/>
          </a:p>
          <a:p>
            <a:pPr marL="742950" lvl="1" indent="-285750">
              <a:buFont typeface="+mj-lt"/>
              <a:buAutoNum type="arabicPeriod"/>
            </a:pPr>
            <a:r>
              <a:rPr lang="en-US" sz="2400"/>
              <a:t>One or more </a:t>
            </a:r>
            <a:r>
              <a:rPr lang="en-US" sz="2400" b="1"/>
              <a:t>final (accepting) states</a:t>
            </a:r>
            <a:endParaRPr lang="en-US" sz="2400"/>
          </a:p>
          <a:p>
            <a:pPr>
              <a:buFont typeface="+mj-lt"/>
              <a:buAutoNum type="arabicPeriod"/>
            </a:pPr>
            <a:r>
              <a:rPr lang="en-US" sz="2400" b="1"/>
              <a:t>Transitions</a:t>
            </a:r>
            <a:endParaRPr lang="en-US" sz="2400"/>
          </a:p>
          <a:p>
            <a:pPr marL="742950" lvl="1" indent="-285750">
              <a:buFont typeface="+mj-lt"/>
              <a:buAutoNum type="arabicPeriod"/>
            </a:pPr>
            <a:r>
              <a:rPr lang="en-US" sz="2400"/>
              <a:t>Directed arrows between states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400"/>
              <a:t>Labeled with </a:t>
            </a:r>
            <a:r>
              <a:rPr lang="en-US" sz="2400" b="1"/>
              <a:t>input symbols</a:t>
            </a:r>
            <a:r>
              <a:rPr lang="en-US" sz="2400"/>
              <a:t> (characters)</a:t>
            </a:r>
          </a:p>
          <a:p>
            <a:pPr>
              <a:buFont typeface="+mj-lt"/>
              <a:buAutoNum type="arabicPeriod"/>
            </a:pPr>
            <a:r>
              <a:rPr lang="en-US" sz="2400" b="1"/>
              <a:t>Accepting States</a:t>
            </a:r>
            <a:endParaRPr lang="en-US" sz="2400"/>
          </a:p>
          <a:p>
            <a:pPr marL="742950" lvl="1" indent="-285750">
              <a:buFont typeface="+mj-lt"/>
              <a:buAutoNum type="arabicPeriod"/>
            </a:pPr>
            <a:r>
              <a:rPr lang="en-US" sz="2400"/>
              <a:t>Indicate successful recognition of a token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400"/>
              <a:t>Often marked with double circles</a:t>
            </a:r>
          </a:p>
        </p:txBody>
      </p:sp>
    </p:spTree>
    <p:extLst>
      <p:ext uri="{BB962C8B-B14F-4D97-AF65-F5344CB8AC3E}">
        <p14:creationId xmlns:p14="http://schemas.microsoft.com/office/powerpoint/2010/main" val="3420609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479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19200" y="-838200"/>
            <a:ext cx="6705600" cy="868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807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76400" y="1905000"/>
            <a:ext cx="586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72021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148</Words>
  <Application>Microsoft Office PowerPoint</Application>
  <PresentationFormat>On-screen Show (4:3)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Saikat</dc:creator>
  <cp:lastModifiedBy>CSE KU</cp:lastModifiedBy>
  <cp:revision>18</cp:revision>
  <dcterms:created xsi:type="dcterms:W3CDTF">2006-08-16T00:00:00Z</dcterms:created>
  <dcterms:modified xsi:type="dcterms:W3CDTF">2026-01-26T04:16:14Z</dcterms:modified>
</cp:coreProperties>
</file>